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5"/>
  </p:notesMasterIdLst>
  <p:sldIdLst>
    <p:sldId id="256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pos="162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98566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4866500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634644" name="Google Shape;159;g3f965d4ae09_3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248774" name="Google Shape;160;g3f965d4ae09_3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224612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810206238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883161451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873664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782959859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11978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7795036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7553501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796771" name="Google Shape;21;p5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30515942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193261075" name="Google Shape;23;p5"/>
          <p:cNvSpPr txBox="1">
            <a:spLocks noGrp="1"/>
          </p:cNvSpPr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870626230" name="Google Shape;24;p5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816214" name="Google Shape;26;p6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6681772" name="Google Shape;27;p6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87830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205906777" name="Google Shape;30;p7"/>
          <p:cNvSpPr txBox="1">
            <a:spLocks noGrp="1"/>
          </p:cNvSpPr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56135793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055378" name="Google Shape;33;p8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333945132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97708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39626270" name="Google Shape;37;p9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364033893" name="Google Shape;38;p9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232719977" name="Google Shape;39;p9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8759917" name="Google Shape;40;p9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137650" name="Google Shape;42;p10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47238181" name="Google Shape;43;p10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548229" name="Google Shape;45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64992266" name="Google Shape;46;p11"/>
          <p:cNvSpPr txBox="1">
            <a:spLocks noGrp="1"/>
          </p:cNvSpPr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5606625" name="Google Shape;47;p1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444340" name="Google Shape;49;p1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065091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79637303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74816573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825890" name="Google Shape;162;p20"/>
          <p:cNvSpPr txBox="1"/>
          <p:nvPr/>
        </p:nvSpPr>
        <p:spPr bwMode="auto">
          <a:xfrm>
            <a:off x="0" y="0"/>
            <a:ext cx="43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GB" sz="1800" b="1">
                <a:solidFill>
                  <a:schemeClr val="lt1"/>
                </a:solidFill>
                <a:latin typeface="Lato"/>
                <a:ea typeface="Lato"/>
                <a:cs typeface="Lato"/>
              </a:rPr>
              <a:t>VISUALISING THE GLOBAL ECONOMY</a:t>
            </a:r>
            <a:endParaRPr sz="1800" b="1">
              <a:solidFill>
                <a:schemeClr val="l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22960096" name="Google Shape;163;p20"/>
          <p:cNvSpPr/>
          <p:nvPr/>
        </p:nvSpPr>
        <p:spPr bwMode="auto">
          <a:xfrm>
            <a:off x="125" y="-20600"/>
            <a:ext cx="9144000" cy="534900"/>
          </a:xfrm>
          <a:prstGeom prst="rect">
            <a:avLst/>
          </a:prstGeom>
          <a:solidFill>
            <a:srgbClr val="17324D"/>
          </a:solidFill>
          <a:ln w="12700" cap="flat" cmpd="sng">
            <a:solidFill>
              <a:srgbClr val="1732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50"/>
              </a:spcBef>
              <a:spcAft>
                <a:spcPts val="0"/>
              </a:spcAft>
              <a:buSzPts val="1700"/>
              <a:buNone/>
              <a:defRPr/>
            </a:pPr>
            <a:r>
              <a:rPr lang="en-GB" sz="1700" b="1">
                <a:solidFill>
                  <a:schemeClr val="lt1"/>
                </a:solidFill>
                <a:latin typeface="Lato"/>
                <a:ea typeface="Lato"/>
                <a:cs typeface="Lato"/>
              </a:rPr>
              <a:t>The $126 Trillion Global Economy — Beyond a Snapshot</a:t>
            </a:r>
            <a:endParaRPr sz="1700" b="1">
              <a:solidFill>
                <a:schemeClr val="l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350003660" name="Google Shape;164;p2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74913" y="926951"/>
            <a:ext cx="1647216" cy="2148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980299" name="Google Shape;165;p20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7949475" y="4745780"/>
            <a:ext cx="615175" cy="2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369776" name="Google Shape;166;p20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8564642" y="4563950"/>
            <a:ext cx="579482" cy="5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4470715" name="Google Shape;167;p20"/>
          <p:cNvSpPr/>
          <p:nvPr/>
        </p:nvSpPr>
        <p:spPr bwMode="auto">
          <a:xfrm>
            <a:off x="115465" y="584514"/>
            <a:ext cx="2366100" cy="219600"/>
          </a:xfrm>
          <a:prstGeom prst="roundRect">
            <a:avLst>
              <a:gd name="adj" fmla="val 12500"/>
            </a:avLst>
          </a:prstGeom>
          <a:solidFill>
            <a:srgbClr val="E7EEF7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10609729" name="Google Shape;168;p20"/>
          <p:cNvSpPr/>
          <p:nvPr/>
        </p:nvSpPr>
        <p:spPr bwMode="auto">
          <a:xfrm>
            <a:off x="115475" y="584425"/>
            <a:ext cx="2366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mbria"/>
              <a:buNone/>
              <a:defRPr/>
            </a:pPr>
            <a:r>
              <a:rPr lang="en-GB" sz="900" b="1" i="0" u="none" strike="noStrike" cap="none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The Original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421932838" name="Google Shape;169;p20"/>
          <p:cNvGrpSpPr/>
          <p:nvPr/>
        </p:nvGrpSpPr>
        <p:grpSpPr bwMode="auto">
          <a:xfrm>
            <a:off x="115480" y="3184800"/>
            <a:ext cx="2076963" cy="221450"/>
            <a:chOff x="190940" y="3226137"/>
            <a:chExt cx="2366100" cy="221450"/>
          </a:xfrm>
        </p:grpSpPr>
        <p:sp>
          <p:nvSpPr>
            <p:cNvPr id="170" name="Google Shape;170;p20"/>
            <p:cNvSpPr/>
            <p:nvPr/>
          </p:nvSpPr>
          <p:spPr bwMode="auto">
            <a:xfrm>
              <a:off x="190940" y="3227987"/>
              <a:ext cx="2366100" cy="219600"/>
            </a:xfrm>
            <a:prstGeom prst="roundRect">
              <a:avLst>
                <a:gd name="adj" fmla="val 12500"/>
              </a:avLst>
            </a:prstGeom>
            <a:solidFill>
              <a:srgbClr val="E7EEF7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1" name="Google Shape;171;p20"/>
            <p:cNvSpPr/>
            <p:nvPr/>
          </p:nvSpPr>
          <p:spPr bwMode="auto">
            <a:xfrm>
              <a:off x="190940" y="3226137"/>
              <a:ext cx="23661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900"/>
                <a:buFont typeface="Cambria"/>
                <a:buNone/>
                <a:defRPr/>
              </a:pPr>
              <a:r>
                <a:rPr lang="en-GB" sz="900" b="1" i="0" u="none" strike="noStrike" cap="none">
                  <a:solidFill>
                    <a:srgbClr val="1B2A4A"/>
                  </a:solidFill>
                  <a:latin typeface="Cambria"/>
                  <a:ea typeface="Cambria"/>
                  <a:cs typeface="Cambria"/>
                </a:rPr>
                <a:t>Critique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20643170" name="Google Shape;172;p20"/>
          <p:cNvSpPr/>
          <p:nvPr/>
        </p:nvSpPr>
        <p:spPr bwMode="auto">
          <a:xfrm>
            <a:off x="115475" y="3467125"/>
            <a:ext cx="2006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700"/>
              <a:buFont typeface="Calibri"/>
              <a:buNone/>
              <a:defRPr/>
            </a:pPr>
            <a:r>
              <a:rPr lang="en-GB" sz="800" b="1" i="0" u="none" strike="noStrike" cap="none">
                <a:solidFill>
                  <a:srgbClr val="0E7C86"/>
                </a:solidFill>
                <a:latin typeface="Calibri"/>
                <a:ea typeface="Calibri"/>
                <a:cs typeface="Calibri"/>
              </a:rPr>
              <a:t>Strengths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7073381" name="Google Shape;173;p20"/>
          <p:cNvSpPr/>
          <p:nvPr/>
        </p:nvSpPr>
        <p:spPr bwMode="auto">
          <a:xfrm>
            <a:off x="134075" y="3665100"/>
            <a:ext cx="200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Visually striking — 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draws attention to a large dataset</a:t>
            </a: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Regional colours — 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show continental groupings</a:t>
            </a: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Clear Emphasis —  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largest economies stand out clearly</a:t>
            </a: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endParaRPr sz="700" b="1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3837628" name="Google Shape;174;p20"/>
          <p:cNvSpPr/>
          <p:nvPr/>
        </p:nvSpPr>
        <p:spPr bwMode="auto">
          <a:xfrm>
            <a:off x="134075" y="4097725"/>
            <a:ext cx="19881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00"/>
              <a:buFont typeface="Calibri"/>
              <a:buNone/>
              <a:defRPr/>
            </a:pPr>
            <a:r>
              <a:rPr lang="en-GB" sz="8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Weaknesses (→ what we fixed)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560810" name="Google Shape;175;p20"/>
          <p:cNvSpPr/>
          <p:nvPr/>
        </p:nvSpPr>
        <p:spPr bwMode="auto">
          <a:xfrm>
            <a:off x="115475" y="4277950"/>
            <a:ext cx="2025300" cy="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Areas hard to compare precisely </a:t>
            </a:r>
            <a:r>
              <a:rPr lang="en-GB" sz="7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→ ranked bars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Small </a:t>
            </a: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economies unlabelled</a:t>
            </a:r>
            <a:r>
              <a:rPr lang="en-GB" sz="7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→ top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GB" sz="7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15 + labels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Mixed billions and trillions → 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standardised units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One-year snapshot hides trends → 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time series</a:t>
            </a: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GDP size ≠ prosperity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→ GDP per capita</a:t>
            </a: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2118892628" name="Google Shape;176;p20"/>
          <p:cNvGrpSpPr/>
          <p:nvPr/>
        </p:nvGrpSpPr>
        <p:grpSpPr bwMode="auto">
          <a:xfrm>
            <a:off x="2668881" y="584525"/>
            <a:ext cx="3142316" cy="219600"/>
            <a:chOff x="2668944" y="584526"/>
            <a:chExt cx="3806100" cy="219600"/>
          </a:xfrm>
        </p:grpSpPr>
        <p:sp>
          <p:nvSpPr>
            <p:cNvPr id="177" name="Google Shape;177;p20"/>
            <p:cNvSpPr/>
            <p:nvPr/>
          </p:nvSpPr>
          <p:spPr bwMode="auto">
            <a:xfrm>
              <a:off x="2668944" y="584526"/>
              <a:ext cx="3806100" cy="219600"/>
            </a:xfrm>
            <a:prstGeom prst="roundRect">
              <a:avLst>
                <a:gd name="adj" fmla="val 12500"/>
              </a:avLst>
            </a:prstGeom>
            <a:solidFill>
              <a:srgbClr val="E7EEF7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8" name="Google Shape;178;p20"/>
            <p:cNvSpPr/>
            <p:nvPr/>
          </p:nvSpPr>
          <p:spPr bwMode="auto">
            <a:xfrm>
              <a:off x="2668944" y="584526"/>
              <a:ext cx="38061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900"/>
                <a:buFont typeface="Cambria"/>
                <a:buNone/>
                <a:defRPr/>
              </a:pPr>
              <a:r>
                <a:rPr lang="en-GB" sz="900" b="1" i="0" u="none" strike="noStrike" cap="none">
                  <a:solidFill>
                    <a:srgbClr val="1B2A4A"/>
                  </a:solidFill>
                  <a:latin typeface="Cambria"/>
                  <a:ea typeface="Cambria"/>
                  <a:cs typeface="Cambria"/>
                </a:rPr>
                <a:t>Introduction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671007228" name="Google Shape;179;p20"/>
          <p:cNvSpPr/>
          <p:nvPr/>
        </p:nvSpPr>
        <p:spPr bwMode="auto">
          <a:xfrm>
            <a:off x="2669025" y="831425"/>
            <a:ext cx="3176400" cy="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  <a:defRPr/>
            </a:pPr>
            <a:r>
              <a:rPr lang="en-GB" sz="7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In 2026 the world economy is projected at about </a:t>
            </a:r>
            <a:r>
              <a:rPr lang="en-GB" sz="7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$126 trillion</a:t>
            </a:r>
            <a:r>
              <a:rPr lang="en-GB" sz="7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, but output is highly concentrated and its centre of gravity is moving. Knowing where economic weight sits, how it is shifting between regions, and 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which economies have higher output per person</a:t>
            </a:r>
            <a:r>
              <a:rPr lang="en-GB" sz="7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informs trade, investment, and policy decisions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GB" sz="7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patterns a single-year treemap cannot show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).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684098380" name="Google Shape;180;p20"/>
          <p:cNvGrpSpPr/>
          <p:nvPr/>
        </p:nvGrpSpPr>
        <p:grpSpPr bwMode="auto">
          <a:xfrm>
            <a:off x="2481571" y="2474959"/>
            <a:ext cx="4946027" cy="221423"/>
            <a:chOff x="2668944" y="1489930"/>
            <a:chExt cx="3806100" cy="219600"/>
          </a:xfrm>
        </p:grpSpPr>
        <p:sp>
          <p:nvSpPr>
            <p:cNvPr id="181" name="Google Shape;181;p20"/>
            <p:cNvSpPr/>
            <p:nvPr/>
          </p:nvSpPr>
          <p:spPr bwMode="auto">
            <a:xfrm>
              <a:off x="2668944" y="1489930"/>
              <a:ext cx="3806100" cy="219600"/>
            </a:xfrm>
            <a:prstGeom prst="roundRect">
              <a:avLst>
                <a:gd name="adj" fmla="val 12500"/>
              </a:avLst>
            </a:prstGeom>
            <a:solidFill>
              <a:srgbClr val="E7EEF7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9150" tIns="69150" rIns="69150" bIns="691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82" name="Google Shape;182;p20"/>
            <p:cNvSpPr/>
            <p:nvPr/>
          </p:nvSpPr>
          <p:spPr bwMode="auto">
            <a:xfrm>
              <a:off x="2668944" y="1489930"/>
              <a:ext cx="38061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908"/>
                <a:buFont typeface="Cambria"/>
                <a:buNone/>
                <a:defRPr/>
              </a:pPr>
              <a:r>
                <a:rPr lang="en-GB" sz="900" b="1" i="0" u="none" strike="noStrike" cap="none">
                  <a:solidFill>
                    <a:srgbClr val="1B2A4A"/>
                  </a:solidFill>
                  <a:latin typeface="Cambria"/>
                  <a:ea typeface="Cambria"/>
                  <a:cs typeface="Cambria"/>
                </a:rPr>
                <a:t>Our Redesign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893667557" name="Google Shape;183;p20"/>
          <p:cNvSpPr/>
          <p:nvPr/>
        </p:nvSpPr>
        <p:spPr bwMode="auto">
          <a:xfrm>
            <a:off x="2668950" y="1411038"/>
            <a:ext cx="3176400" cy="219600"/>
          </a:xfrm>
          <a:prstGeom prst="rect">
            <a:avLst/>
          </a:prstGeom>
          <a:solidFill>
            <a:srgbClr val="E7EEF7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mbria"/>
              <a:buNone/>
              <a:defRPr/>
            </a:pPr>
            <a:r>
              <a:rPr lang="en-GB" sz="900" b="1">
                <a:solidFill>
                  <a:srgbClr val="1B2A4A"/>
                </a:solidFill>
                <a:latin typeface="Cambria"/>
                <a:ea typeface="Cambria"/>
                <a:cs typeface="Cambria"/>
              </a:rPr>
              <a:t>Design Brief</a:t>
            </a:r>
            <a:endParaRPr sz="900" b="1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655028461" name="Google Shape;184;p20"/>
          <p:cNvSpPr/>
          <p:nvPr/>
        </p:nvSpPr>
        <p:spPr bwMode="auto">
          <a:xfrm>
            <a:off x="2668850" y="1666750"/>
            <a:ext cx="3210900" cy="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FD4DC"/>
              </a:buClr>
              <a:buSzPts val="700"/>
              <a:buFont typeface="Calibri"/>
              <a:buNone/>
              <a:defRPr/>
            </a:pPr>
            <a:r>
              <a:rPr lang="en-GB" sz="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Audience: </a:t>
            </a:r>
            <a:r>
              <a:rPr lang="en-GB"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GB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conomic and trade-policy analysts prioritising global markets and partnerships.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FD4DC"/>
              </a:buClr>
              <a:buSzPts val="700"/>
              <a:buFont typeface="Calibri"/>
              <a:buNone/>
              <a:defRPr/>
            </a:pPr>
            <a:r>
              <a:rPr lang="en-GB" sz="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Task: </a:t>
            </a:r>
            <a:r>
              <a:rPr lang="en-GB"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Ra</a:t>
            </a:r>
            <a:r>
              <a:rPr lang="en-GB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nk and compare the absolute market size of economies in 2026, and reveal the shift of economic weight toward Asia since 2000.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FD4DC"/>
              </a:buClr>
              <a:buSzPts val="700"/>
              <a:buFont typeface="Calibri"/>
              <a:buNone/>
              <a:defRPr/>
            </a:pPr>
            <a:r>
              <a:rPr lang="en-GB" sz="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Revisions: </a:t>
            </a:r>
            <a:r>
              <a:rPr lang="en-GB" sz="7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</a:t>
            </a:r>
            <a:r>
              <a:rPr lang="en-GB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de-by-side ranked bars for GDP and GDP per capita; a line chart of regional share over time; a colour-blind-safe one-hue-per-region palette; standardised units (USD trillions).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839447116" name="Google Shape;185;p20"/>
          <p:cNvGrpSpPr/>
          <p:nvPr/>
        </p:nvGrpSpPr>
        <p:grpSpPr bwMode="auto">
          <a:xfrm>
            <a:off x="7638272" y="2461950"/>
            <a:ext cx="1372182" cy="219600"/>
            <a:chOff x="7770899" y="2342350"/>
            <a:chExt cx="1317000" cy="219600"/>
          </a:xfrm>
        </p:grpSpPr>
        <p:sp>
          <p:nvSpPr>
            <p:cNvPr id="186" name="Google Shape;186;p20"/>
            <p:cNvSpPr/>
            <p:nvPr/>
          </p:nvSpPr>
          <p:spPr bwMode="auto">
            <a:xfrm>
              <a:off x="7770899" y="2342350"/>
              <a:ext cx="1317000" cy="219600"/>
            </a:xfrm>
            <a:prstGeom prst="roundRect">
              <a:avLst>
                <a:gd name="adj" fmla="val 12500"/>
              </a:avLst>
            </a:prstGeom>
            <a:solidFill>
              <a:srgbClr val="E7EEF7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87" name="Google Shape;187;p20"/>
            <p:cNvSpPr/>
            <p:nvPr/>
          </p:nvSpPr>
          <p:spPr bwMode="auto">
            <a:xfrm>
              <a:off x="7770899" y="2342350"/>
              <a:ext cx="13170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900"/>
                <a:buFont typeface="Cambria"/>
                <a:buNone/>
                <a:defRPr/>
              </a:pPr>
              <a:r>
                <a:rPr lang="en-GB" sz="900" b="1" i="0" u="none" strike="noStrike" cap="none">
                  <a:solidFill>
                    <a:srgbClr val="1B2A4A"/>
                  </a:solidFill>
                  <a:latin typeface="Cambria"/>
                  <a:ea typeface="Cambria"/>
                  <a:cs typeface="Cambria"/>
                </a:rPr>
                <a:t>Data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370664554" name="Google Shape;188;p20"/>
          <p:cNvSpPr/>
          <p:nvPr/>
        </p:nvSpPr>
        <p:spPr bwMode="auto">
          <a:xfrm>
            <a:off x="7638275" y="2778375"/>
            <a:ext cx="1356599" cy="1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IMF WEO (Apr 2026)</a:t>
            </a:r>
            <a:r>
              <a:rPr lang="en-GB" sz="700" b="0" i="0" u="none" strike="noStrike" cap="none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 — nominal GDP (NGDPD) · </a:t>
            </a:r>
            <a:r>
              <a:rPr lang="en-GB" sz="7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World Bank</a:t>
            </a:r>
            <a:r>
              <a:rPr lang="en-GB" sz="700" b="0" i="0" u="none" strike="noStrike" cap="none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 — population (SP.POP.TOTL). </a:t>
            </a:r>
            <a:r>
              <a:rPr lang="en-GB" sz="7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Cleaned in Quarto/R: dropped aggregate rows, standardised ISO-3 codes &amp; regions, converted to USD trillions, merged population. </a:t>
            </a:r>
            <a:r>
              <a:rPr lang="en-GB" sz="7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190 economies; 2026 total $125.7T.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441635593" name="Google Shape;189;p20"/>
          <p:cNvGrpSpPr/>
          <p:nvPr/>
        </p:nvGrpSpPr>
        <p:grpSpPr bwMode="auto">
          <a:xfrm>
            <a:off x="7648761" y="3896650"/>
            <a:ext cx="1372117" cy="221400"/>
            <a:chOff x="7851475" y="3896650"/>
            <a:chExt cx="1169849" cy="221400"/>
          </a:xfrm>
        </p:grpSpPr>
        <p:sp>
          <p:nvSpPr>
            <p:cNvPr id="190" name="Google Shape;190;p20"/>
            <p:cNvSpPr/>
            <p:nvPr/>
          </p:nvSpPr>
          <p:spPr bwMode="auto">
            <a:xfrm>
              <a:off x="7851475" y="3896650"/>
              <a:ext cx="1163099" cy="221400"/>
            </a:xfrm>
            <a:prstGeom prst="roundRect">
              <a:avLst>
                <a:gd name="adj" fmla="val 12500"/>
              </a:avLst>
            </a:prstGeom>
            <a:solidFill>
              <a:srgbClr val="E7EEF7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9150" tIns="69150" rIns="69150" bIns="691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91" name="Google Shape;191;p20"/>
            <p:cNvSpPr/>
            <p:nvPr/>
          </p:nvSpPr>
          <p:spPr bwMode="auto">
            <a:xfrm>
              <a:off x="7858225" y="3896650"/>
              <a:ext cx="1163099" cy="22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908"/>
                <a:buFont typeface="Cambria"/>
                <a:buNone/>
                <a:defRPr/>
              </a:pPr>
              <a:r>
                <a:rPr lang="en-GB" sz="900" b="1" i="0" u="none" strike="noStrike" cap="none">
                  <a:solidFill>
                    <a:srgbClr val="1B2A4A"/>
                  </a:solidFill>
                  <a:latin typeface="Cambria"/>
                  <a:ea typeface="Cambria"/>
                  <a:cs typeface="Cambria"/>
                </a:rPr>
                <a:t>References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383008036" name="Google Shape;192;p20"/>
          <p:cNvSpPr/>
          <p:nvPr/>
        </p:nvSpPr>
        <p:spPr bwMode="auto">
          <a:xfrm>
            <a:off x="7664725" y="4210875"/>
            <a:ext cx="1356599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600"/>
              <a:buFont typeface="Calibri"/>
              <a:buNone/>
              <a:defRPr/>
            </a:pPr>
            <a:r>
              <a:rPr lang="en-GB" sz="700" b="0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IMF WEO (Apr 2026); World Bank WDI; Visual Capitalist (2026); Okabe &amp; Ito (2008). </a:t>
            </a:r>
            <a:endParaRPr sz="700" b="0" i="0" u="none" strike="noStrike" cap="none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9449313" name="Google Shape;193;p20"/>
          <p:cNvSpPr/>
          <p:nvPr/>
        </p:nvSpPr>
        <p:spPr bwMode="auto">
          <a:xfrm>
            <a:off x="6912077" y="-53"/>
            <a:ext cx="2126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/>
            </a:pPr>
            <a:r>
              <a:rPr lang="en-GB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Lavender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7D6EC"/>
              </a:buClr>
              <a:buSzPts val="800"/>
              <a:buFont typeface="Calibri"/>
              <a:buNone/>
              <a:defRPr/>
            </a:pPr>
            <a:r>
              <a:rPr lang="en-GB" sz="800">
                <a:solidFill>
                  <a:srgbClr val="C7D6EC"/>
                </a:solidFill>
                <a:latin typeface="Calibri"/>
                <a:ea typeface="Calibri"/>
                <a:cs typeface="Calibri"/>
              </a:rPr>
              <a:t>Ang Jing Yi Clairer · Ryson Toh · Kenny Leck</a:t>
            </a:r>
            <a:endParaRPr sz="800">
              <a:solidFill>
                <a:srgbClr val="C7D6EC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7D6EC"/>
              </a:buClr>
              <a:buSzPts val="800"/>
              <a:buFont typeface="Calibri"/>
              <a:buNone/>
              <a:defRPr/>
            </a:pPr>
            <a:r>
              <a:rPr lang="en-GB" sz="800">
                <a:solidFill>
                  <a:srgbClr val="C7D6EC"/>
                </a:solidFill>
                <a:latin typeface="Calibri"/>
                <a:ea typeface="Calibri"/>
                <a:cs typeface="Calibri"/>
              </a:rPr>
              <a:t>Lim Fang Jun · Foo Guo Wei</a:t>
            </a:r>
            <a:endParaRPr sz="800">
              <a:solidFill>
                <a:srgbClr val="C7D6EC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564162504" name="Google Shape;194;p20"/>
          <p:cNvGrpSpPr/>
          <p:nvPr/>
        </p:nvGrpSpPr>
        <p:grpSpPr bwMode="auto">
          <a:xfrm>
            <a:off x="6211262" y="584525"/>
            <a:ext cx="2783782" cy="219600"/>
            <a:chOff x="2668944" y="584526"/>
            <a:chExt cx="3806100" cy="219600"/>
          </a:xfrm>
        </p:grpSpPr>
        <p:sp>
          <p:nvSpPr>
            <p:cNvPr id="195" name="Google Shape;195;p20"/>
            <p:cNvSpPr/>
            <p:nvPr/>
          </p:nvSpPr>
          <p:spPr bwMode="auto">
            <a:xfrm>
              <a:off x="2668944" y="584526"/>
              <a:ext cx="3806100" cy="219600"/>
            </a:xfrm>
            <a:prstGeom prst="roundRect">
              <a:avLst>
                <a:gd name="adj" fmla="val 12500"/>
              </a:avLst>
            </a:prstGeom>
            <a:solidFill>
              <a:srgbClr val="E7EEF7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96" name="Google Shape;196;p20"/>
            <p:cNvSpPr/>
            <p:nvPr/>
          </p:nvSpPr>
          <p:spPr bwMode="auto">
            <a:xfrm>
              <a:off x="2668944" y="584526"/>
              <a:ext cx="38061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900"/>
                <a:buFont typeface="Cambria"/>
                <a:buNone/>
                <a:defRPr/>
              </a:pPr>
              <a:r>
                <a:rPr lang="en-GB" sz="900" b="1">
                  <a:solidFill>
                    <a:srgbClr val="1B2A4A"/>
                  </a:solidFill>
                  <a:latin typeface="Cambria"/>
                  <a:ea typeface="Cambria"/>
                  <a:cs typeface="Cambria"/>
                </a:rPr>
                <a:t>Our Redesign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799097194" name="Google Shape;197;p20"/>
          <p:cNvSpPr/>
          <p:nvPr/>
        </p:nvSpPr>
        <p:spPr bwMode="auto">
          <a:xfrm>
            <a:off x="6211250" y="910504"/>
            <a:ext cx="28101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Panel A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ranks the 15 largest economies by nominal GDP, allowing more precise comparisons than the areas in the original treemap. </a:t>
            </a: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  <a:defRPr/>
            </a:pPr>
            <a:endParaRPr sz="700" b="1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Panel B 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retains the same country order, enabling market size and GDP per capita to be compared row by row. </a:t>
            </a: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  <a:defRPr/>
            </a:pPr>
            <a:endParaRPr sz="700" b="1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Panel C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tracks each region’s share of world GDP from 2000 to 2030, with dotted lines representing projections after 2026. This reveals long-term regional shifts that a single-year snapshot cannot show.</a:t>
            </a: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  <a:defRPr/>
            </a:pP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00"/>
              <a:buFont typeface="Calibri"/>
              <a:buNone/>
              <a:defRPr/>
            </a:pPr>
            <a:r>
              <a:rPr lang="en-GB" sz="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Key insight</a:t>
            </a:r>
            <a:r>
              <a:rPr lang="en-GB" sz="7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: A large economy does not necessarily have high output per person. Asia’s share of world GDP rises from approximately 29% in 2000 to 35% in 2026, while Europe’s and America’s share declines, indicating a shift in global economic weight towards Asia. </a:t>
            </a:r>
            <a:endParaRPr sz="7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62411536" name="Google Shape;198;p20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2419512" y="2783225"/>
            <a:ext cx="5082906" cy="23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</cp:revision>
  <dcterms:modified xsi:type="dcterms:W3CDTF">2026-07-27T06:51:45Z</dcterms:modified>
</cp:coreProperties>
</file>