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 /><Relationship Id="rId6" Type="http://schemas.openxmlformats.org/officeDocument/2006/relationships/tableStyles" Target="tableStyles.xml" /><Relationship Id="rId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17829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5506072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89932367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3664164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56225424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4361925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760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71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14135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www.imf.org/external/datamapper/NGDPD@WEO/OEMDC/ADVEC/WEOWORLD" TargetMode="External"/><Relationship Id="rId4" Type="http://schemas.openxmlformats.org/officeDocument/2006/relationships/hyperlink" Target="https://databank.worldbank.org/reports.aspx?source=2&amp;series=SP.POP.TOTL&amp;country=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www.visualcapitalist.com/the-126t-global-economy-in-one-char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EFF3F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850379" name="Shape 4"/>
          <p:cNvSpPr/>
          <p:nvPr/>
        </p:nvSpPr>
        <p:spPr bwMode="auto">
          <a:xfrm flipH="0" flipV="0">
            <a:off x="138431" y="112568"/>
            <a:ext cx="3246120" cy="344344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2120535712" name="Text 5"/>
          <p:cNvSpPr/>
          <p:nvPr/>
        </p:nvSpPr>
        <p:spPr bwMode="auto">
          <a:xfrm>
            <a:off x="293880" y="196732"/>
            <a:ext cx="2916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50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THE ORIGINAL</a:t>
            </a:r>
            <a:endParaRPr sz="1250">
              <a:solidFill>
                <a:srgbClr val="734F96"/>
              </a:solidFill>
            </a:endParaRPr>
          </a:p>
        </p:txBody>
      </p:sp>
      <p:sp>
        <p:nvSpPr>
          <p:cNvPr id="1846421502" name="Text 6"/>
          <p:cNvSpPr/>
          <p:nvPr/>
        </p:nvSpPr>
        <p:spPr bwMode="auto">
          <a:xfrm flipH="0" flipV="0">
            <a:off x="293880" y="532635"/>
            <a:ext cx="29809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This visualization </a:t>
            </a:r>
            <a:r>
              <a:rPr lang="en-US" sz="100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displays the GDP for 195 countries and economies, as 2026 projections from the IMF’s April 2026 World Economic Outlook. It uses a voronoi treemap to display the country and its share of the $126T global total</a:t>
            </a:r>
            <a:endParaRPr lang="en-US" sz="1000"/>
          </a:p>
        </p:txBody>
      </p:sp>
      <p:sp>
        <p:nvSpPr>
          <p:cNvPr id="1689174956" name="Shape 10"/>
          <p:cNvSpPr/>
          <p:nvPr/>
        </p:nvSpPr>
        <p:spPr bwMode="auto">
          <a:xfrm flipH="0" flipV="0">
            <a:off x="129288" y="3212589"/>
            <a:ext cx="3246120" cy="3532842"/>
          </a:xfrm>
          <a:prstGeom prst="roundRect">
            <a:avLst>
              <a:gd name="adj" fmla="val 2048"/>
            </a:avLst>
          </a:prstGeom>
          <a:solidFill>
            <a:srgbClr val="FFFFFF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987123457" name="Text 12"/>
          <p:cNvSpPr/>
          <p:nvPr/>
        </p:nvSpPr>
        <p:spPr bwMode="auto">
          <a:xfrm>
            <a:off x="293880" y="4808909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Strengths</a:t>
            </a:r>
            <a:endParaRPr lang="en-US" sz="1000"/>
          </a:p>
        </p:txBody>
      </p:sp>
      <p:sp>
        <p:nvSpPr>
          <p:cNvPr id="1038449395" name="Text 13"/>
          <p:cNvSpPr/>
          <p:nvPr/>
        </p:nvSpPr>
        <p:spPr bwMode="auto">
          <a:xfrm>
            <a:off x="312168" y="4846039"/>
            <a:ext cx="28986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High visual salience, draws readers in</a:t>
            </a:r>
            <a:endParaRPr lang="en-US" sz="950"/>
          </a:p>
          <a:p>
            <a:pPr marL="342900" indent="-342900">
              <a:spcAft>
                <a:spcPts val="20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Region colour shows macro clusters</a:t>
            </a:r>
            <a:endParaRPr lang="en-US" sz="950"/>
          </a:p>
        </p:txBody>
      </p:sp>
      <p:sp>
        <p:nvSpPr>
          <p:cNvPr id="1795674002" name="Text 14"/>
          <p:cNvSpPr/>
          <p:nvPr/>
        </p:nvSpPr>
        <p:spPr bwMode="auto">
          <a:xfrm>
            <a:off x="293880" y="5447673"/>
            <a:ext cx="2916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Weakness</a:t>
            </a:r>
            <a:endParaRPr lang="en-US" sz="1000"/>
          </a:p>
        </p:txBody>
      </p:sp>
      <p:sp>
        <p:nvSpPr>
          <p:cNvPr id="952758840" name="Text 15"/>
          <p:cNvSpPr/>
          <p:nvPr/>
        </p:nvSpPr>
        <p:spPr bwMode="auto">
          <a:xfrm>
            <a:off x="312168" y="5614689"/>
            <a:ext cx="2898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Area is hard to compare precisely</a:t>
            </a:r>
            <a:endParaRPr lang="en-US" sz="950">
              <a:solidFill>
                <a:srgbClr val="1B2A4A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199"/>
              </a:spcAft>
              <a:buSzPct val="100000"/>
              <a:buChar char="•"/>
              <a:defRPr/>
            </a:pPr>
            <a:r>
              <a:rPr lang="en-US" sz="95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Units mix billions and trillions</a:t>
            </a:r>
            <a:endParaRPr sz="950"/>
          </a:p>
          <a:p>
            <a:pPr marL="342900" indent="-342900">
              <a:spcAft>
                <a:spcPts val="20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Region colours repeat / look alike</a:t>
            </a:r>
            <a:endParaRPr lang="en-US" sz="950"/>
          </a:p>
          <a:p>
            <a:pPr marL="342900" indent="-342900">
              <a:spcAft>
                <a:spcPts val="20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No ranking, per-capita, or trend</a:t>
            </a:r>
            <a:endParaRPr lang="en-US" sz="950">
              <a:solidFill>
                <a:srgbClr val="1B2A4A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199"/>
              </a:spcAft>
              <a:buSzPct val="100000"/>
              <a:buChar char="•"/>
              <a:defRPr/>
            </a:pPr>
            <a:r>
              <a:rPr lang="en-US" sz="95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One year's data cannot prove Asia's shifting economic weight</a:t>
            </a:r>
            <a:endParaRPr lang="en-US" sz="950"/>
          </a:p>
        </p:txBody>
      </p:sp>
      <p:sp>
        <p:nvSpPr>
          <p:cNvPr id="1413460880" name="Shape 16"/>
          <p:cNvSpPr/>
          <p:nvPr/>
        </p:nvSpPr>
        <p:spPr bwMode="auto">
          <a:xfrm flipH="0" flipV="0">
            <a:off x="3466897" y="119394"/>
            <a:ext cx="5585113" cy="6626036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60995559" name="Text 17"/>
          <p:cNvSpPr/>
          <p:nvPr/>
        </p:nvSpPr>
        <p:spPr bwMode="auto">
          <a:xfrm>
            <a:off x="3608858" y="19673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50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OUR REDESIGN</a:t>
            </a:r>
            <a:endParaRPr sz="1250">
              <a:solidFill>
                <a:srgbClr val="734F96"/>
              </a:solidFill>
            </a:endParaRPr>
          </a:p>
        </p:txBody>
      </p:sp>
      <p:sp>
        <p:nvSpPr>
          <p:cNvPr id="538342682" name="Text 20"/>
          <p:cNvSpPr/>
          <p:nvPr/>
        </p:nvSpPr>
        <p:spPr bwMode="auto">
          <a:xfrm flipH="0" flipV="0">
            <a:off x="3695447" y="3990524"/>
            <a:ext cx="1535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50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WHAT CHANGED</a:t>
            </a:r>
            <a:endParaRPr sz="1250">
              <a:solidFill>
                <a:srgbClr val="734F96"/>
              </a:solidFill>
            </a:endParaRPr>
          </a:p>
        </p:txBody>
      </p:sp>
      <p:sp>
        <p:nvSpPr>
          <p:cNvPr id="656503291" name="Text 21"/>
          <p:cNvSpPr/>
          <p:nvPr/>
        </p:nvSpPr>
        <p:spPr bwMode="auto">
          <a:xfrm flipH="0" flipV="0">
            <a:off x="3713735" y="4481321"/>
            <a:ext cx="235457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5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Ranked bars replace areas</a:t>
            </a:r>
            <a:endParaRPr sz="950"/>
          </a:p>
          <a:p>
            <a:pPr marL="342900" indent="-342900">
              <a:spcAft>
                <a:spcPts val="25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One consistent unit (USD trillions) across the whole chart</a:t>
            </a:r>
            <a:endParaRPr sz="950"/>
          </a:p>
          <a:p>
            <a:pPr marL="342900" indent="-342900">
              <a:spcAft>
                <a:spcPts val="25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Colour-blind-safe palette: one distinct hue per region</a:t>
            </a:r>
            <a:endParaRPr sz="950"/>
          </a:p>
          <a:p>
            <a:pPr marL="342900" indent="-342900">
              <a:spcAft>
                <a:spcPts val="25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GDP per capita separates market size from prosperity</a:t>
            </a:r>
            <a:endParaRPr sz="950"/>
          </a:p>
          <a:p>
            <a:pPr marL="342900" indent="-342900">
              <a:spcAft>
                <a:spcPts val="250"/>
              </a:spcAft>
              <a:buSzPct val="100000"/>
              <a:buChar char="•"/>
              <a:defRPr/>
            </a:pPr>
            <a:r>
              <a:rPr lang="en-US" sz="95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Showing of “Asia shift”story by adding GDP Share by Region panel</a:t>
            </a:r>
            <a:endParaRPr lang="en-US" sz="1000"/>
          </a:p>
        </p:txBody>
      </p:sp>
      <p:sp>
        <p:nvSpPr>
          <p:cNvPr id="249947183" name="Shape 22"/>
          <p:cNvSpPr/>
          <p:nvPr/>
        </p:nvSpPr>
        <p:spPr bwMode="auto">
          <a:xfrm flipH="0" flipV="0">
            <a:off x="9185034" y="112568"/>
            <a:ext cx="2898648" cy="3617075"/>
          </a:xfrm>
          <a:prstGeom prst="roundRect">
            <a:avLst>
              <a:gd name="adj" fmla="val 2034"/>
            </a:avLst>
          </a:prstGeom>
          <a:solidFill>
            <a:srgbClr val="1B2A4A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2092400368" name="Text 23"/>
          <p:cNvSpPr/>
          <p:nvPr/>
        </p:nvSpPr>
        <p:spPr bwMode="auto">
          <a:xfrm>
            <a:off x="9349627" y="19673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 spc="15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DESIGN BRIEF</a:t>
            </a:r>
            <a:endParaRPr lang="en-US" sz="1250"/>
          </a:p>
        </p:txBody>
      </p:sp>
      <p:sp>
        <p:nvSpPr>
          <p:cNvPr id="1898135445" name="Text 24"/>
          <p:cNvSpPr/>
          <p:nvPr/>
        </p:nvSpPr>
        <p:spPr bwMode="auto">
          <a:xfrm>
            <a:off x="9349627" y="575930"/>
            <a:ext cx="2569464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defRPr/>
            </a:pPr>
            <a:r>
              <a:rPr lang="en-US" sz="950" b="0" i="0" u="none" strike="noStrike" cap="none" spc="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This redesign is intended for economic and trade-policy analysts prioritizing global markets</a:t>
            </a:r>
            <a:endParaRPr lang="en-US" sz="950" b="0" i="0" u="none" strike="noStrike" cap="none" spc="0">
              <a:solidFill>
                <a:srgbClr val="EAF1FB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en-US" sz="950" b="0" i="0" u="none" strike="noStrike" cap="none" spc="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and trade partnerships.</a:t>
            </a:r>
            <a:endParaRPr lang="en-US" sz="950" b="0" i="0" u="none" strike="noStrike" cap="none" spc="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endParaRPr lang="en-US" sz="950" b="0" i="0" u="none" strike="noStrike" cap="none" spc="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sz="950" b="0" i="0" u="none" strike="noStrike" cap="none" spc="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The goal is to clearly rank and compare the total absolute market </a:t>
            </a:r>
            <a:r>
              <a:rPr lang="en-US" sz="950" b="0" i="0" u="none" strike="noStrike" cap="none" spc="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size of individual economies for the year 2026.</a:t>
            </a: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 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In addition, it also aims to show that the economic weight is shifting towards Asia since 2000.</a:t>
            </a:r>
            <a:endParaRPr lang="en-US" sz="950" b="0" i="0" u="none" strike="noStrike" cap="none" spc="0">
              <a:solidFill>
                <a:srgbClr val="EAF1FB"/>
              </a:solidFill>
              <a:latin typeface="Calibri"/>
              <a:cs typeface="Calibri"/>
            </a:endParaRPr>
          </a:p>
          <a:p>
            <a:pPr marL="0" indent="0">
              <a:lnSpc>
                <a:spcPct val="102000"/>
              </a:lnSpc>
              <a:buNone/>
              <a:defRPr/>
            </a:pP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2000"/>
              </a:lnSpc>
              <a:buNone/>
              <a:defRPr/>
            </a:pPr>
            <a:r>
              <a:rPr lang="en-US" sz="950" b="1">
                <a:solidFill>
                  <a:srgbClr val="8FD4DC"/>
                </a:solidFill>
                <a:latin typeface="Calibri"/>
                <a:ea typeface="Calibri"/>
                <a:cs typeface="Calibri"/>
              </a:rPr>
              <a:t>Revisions: 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 marL="190257" indent="-190257">
              <a:lnSpc>
                <a:spcPct val="102000"/>
              </a:lnSpc>
              <a:buFont typeface="Arial"/>
              <a:buChar char="•"/>
              <a:defRPr/>
            </a:pP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Side by side horizontal bar chart comparison for nominal GDP and individual affluence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 marL="190257" indent="-190257">
              <a:lnSpc>
                <a:spcPct val="102000"/>
              </a:lnSpc>
              <a:buFont typeface="Arial"/>
              <a:buChar char="•"/>
              <a:defRPr/>
            </a:pP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Line chart to show the GDP share by region trend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 marL="190257" indent="-190257">
              <a:lnSpc>
                <a:spcPct val="102000"/>
              </a:lnSpc>
              <a:buFont typeface="Arial"/>
              <a:buChar char="•"/>
              <a:defRPr/>
            </a:pP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Distinct colour palette for each region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  <a:p>
            <a:pPr marL="190257" indent="-190257">
              <a:lnSpc>
                <a:spcPct val="102000"/>
              </a:lnSpc>
              <a:buFont typeface="Arial"/>
              <a:buChar char="•"/>
              <a:defRPr/>
            </a:pPr>
            <a:r>
              <a:rPr lang="en-US" sz="950">
                <a:solidFill>
                  <a:srgbClr val="EAF1FB"/>
                </a:solidFill>
                <a:latin typeface="Calibri"/>
                <a:ea typeface="Calibri"/>
                <a:cs typeface="Calibri"/>
              </a:rPr>
              <a:t>Standardized units in USD trillions</a:t>
            </a:r>
            <a:endParaRPr lang="en-US" sz="950">
              <a:solidFill>
                <a:srgbClr val="EAF1F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7315900" name="Shape 25"/>
          <p:cNvSpPr/>
          <p:nvPr/>
        </p:nvSpPr>
        <p:spPr bwMode="auto">
          <a:xfrm flipH="0" flipV="0">
            <a:off x="9185033" y="3890007"/>
            <a:ext cx="2898648" cy="812707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1961550023" name="Text 26"/>
          <p:cNvSpPr/>
          <p:nvPr/>
        </p:nvSpPr>
        <p:spPr bwMode="auto">
          <a:xfrm>
            <a:off x="9349627" y="3981447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50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DATA</a:t>
            </a:r>
            <a:endParaRPr sz="1250">
              <a:solidFill>
                <a:srgbClr val="734F96"/>
              </a:solidFill>
            </a:endParaRPr>
          </a:p>
        </p:txBody>
      </p:sp>
      <p:sp>
        <p:nvSpPr>
          <p:cNvPr id="1260349692" name="Text 27"/>
          <p:cNvSpPr/>
          <p:nvPr/>
        </p:nvSpPr>
        <p:spPr bwMode="auto">
          <a:xfrm flipH="0" flipV="0">
            <a:off x="9349625" y="4291439"/>
            <a:ext cx="2569463" cy="388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  <a:defRPr/>
            </a:pPr>
            <a:r>
              <a:rPr lang="en-US" sz="900" b="1" u="sng">
                <a:solidFill>
                  <a:srgbClr val="000000"/>
                </a:solidFill>
                <a:latin typeface="Calibri"/>
                <a:ea typeface="Calibri"/>
                <a:cs typeface="Calibri"/>
                <a:hlinkClick r:id="rId3" tooltip=""/>
              </a:rPr>
              <a:t>IMF WEO Apr 2026</a:t>
            </a:r>
            <a:r>
              <a:rPr lang="en-US" sz="9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(NGDPD): Nominal GDP</a:t>
            </a:r>
            <a:endParaRPr sz="9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03000"/>
              </a:lnSpc>
              <a:buNone/>
              <a:defRPr/>
            </a:pPr>
            <a:r>
              <a:rPr lang="en-US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hlinkClick r:id="rId4" tooltip=""/>
              </a:rPr>
              <a:t>World Bank WDI</a:t>
            </a:r>
            <a:r>
              <a:rPr lang="en-US" sz="900"/>
              <a:t> (</a:t>
            </a:r>
            <a:r>
              <a:rPr lang="en-US" sz="9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SP.POP.TOTL</a:t>
            </a:r>
            <a:r>
              <a:rPr lang="en-US" sz="900"/>
              <a:t>): Population</a:t>
            </a:r>
            <a:endParaRPr lang="en-US" sz="900"/>
          </a:p>
        </p:txBody>
      </p:sp>
      <p:sp>
        <p:nvSpPr>
          <p:cNvPr id="109037292" name="Shape 28"/>
          <p:cNvSpPr/>
          <p:nvPr/>
        </p:nvSpPr>
        <p:spPr bwMode="auto">
          <a:xfrm flipH="0" flipV="0">
            <a:off x="9185034" y="4897509"/>
            <a:ext cx="2898648" cy="1035141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blurRad="88900" dist="38100" dir="5400000" sx="100000" sy="100000" kx="0" ky="0" algn="bl" rotWithShape="0">
              <a:srgbClr val="8AA0BE">
                <a:alpha val="22000"/>
              </a:srgbClr>
            </a:outerShdw>
          </a:effectLst>
        </p:spPr>
      </p:sp>
      <p:sp>
        <p:nvSpPr>
          <p:cNvPr id="1536205949" name="Text 30"/>
          <p:cNvSpPr/>
          <p:nvPr/>
        </p:nvSpPr>
        <p:spPr bwMode="auto">
          <a:xfrm>
            <a:off x="11258298" y="505053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endParaRPr lang="en-US" sz="1100"/>
          </a:p>
        </p:txBody>
      </p:sp>
      <p:sp>
        <p:nvSpPr>
          <p:cNvPr id="2016549548" name="Text 31"/>
          <p:cNvSpPr/>
          <p:nvPr/>
        </p:nvSpPr>
        <p:spPr bwMode="auto">
          <a:xfrm>
            <a:off x="9349627" y="4970661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50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REFERENCES</a:t>
            </a:r>
            <a:endParaRPr sz="1250">
              <a:solidFill>
                <a:srgbClr val="734F96"/>
              </a:solidFill>
            </a:endParaRPr>
          </a:p>
        </p:txBody>
      </p:sp>
      <p:pic>
        <p:nvPicPr>
          <p:cNvPr id="4217215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512567" y="627305"/>
            <a:ext cx="5493772" cy="3042840"/>
          </a:xfrm>
          <a:prstGeom prst="rect">
            <a:avLst/>
          </a:prstGeom>
        </p:spPr>
      </p:pic>
      <p:pic>
        <p:nvPicPr>
          <p:cNvPr id="50376755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65745" y="1291202"/>
            <a:ext cx="2528593" cy="3297045"/>
          </a:xfrm>
          <a:prstGeom prst="rect">
            <a:avLst/>
          </a:prstGeom>
        </p:spPr>
      </p:pic>
      <p:sp>
        <p:nvSpPr>
          <p:cNvPr id="328926577" name="Text 32"/>
          <p:cNvSpPr/>
          <p:nvPr/>
        </p:nvSpPr>
        <p:spPr bwMode="auto">
          <a:xfrm>
            <a:off x="9349627" y="5284812"/>
            <a:ext cx="18928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3735" indent="-173735">
              <a:lnSpc>
                <a:spcPct val="102000"/>
              </a:lnSpc>
              <a:buFont typeface="Arial"/>
              <a:buChar char="•"/>
              <a:defRPr/>
            </a:pPr>
            <a:r>
              <a:rPr lang="en-US" sz="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Visual Capitalist (2026). The $126T Global Economy in One Chart. Available at: </a:t>
            </a:r>
            <a:r>
              <a:rPr lang="en-US" sz="800" b="0" i="0" u="sng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  <a:hlinkClick r:id="rId7" tooltip=""/>
              </a:rPr>
              <a:t>https://www.visualcapitalist.com/the-126t-global-economy-in-one-chart/</a:t>
            </a:r>
            <a:endParaRPr lang="en-US" sz="800"/>
          </a:p>
        </p:txBody>
      </p:sp>
      <p:sp>
        <p:nvSpPr>
          <p:cNvPr id="870107064" name="Text 9"/>
          <p:cNvSpPr/>
          <p:nvPr/>
        </p:nvSpPr>
        <p:spPr bwMode="auto">
          <a:xfrm>
            <a:off x="357887" y="4504733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750">
                <a:solidFill>
                  <a:srgbClr val="5A6B85"/>
                </a:solidFill>
                <a:latin typeface="Calibri"/>
                <a:ea typeface="Calibri"/>
                <a:cs typeface="Calibri"/>
              </a:rPr>
              <a:t>Source: Visual Capitalist (2026),</a:t>
            </a:r>
            <a:endParaRPr lang="en-US" sz="750"/>
          </a:p>
        </p:txBody>
      </p:sp>
      <p:sp>
        <p:nvSpPr>
          <p:cNvPr id="1977316554" name="Text 20"/>
          <p:cNvSpPr/>
          <p:nvPr/>
        </p:nvSpPr>
        <p:spPr bwMode="auto">
          <a:xfrm flipH="0" flipV="0">
            <a:off x="6473380" y="3990524"/>
            <a:ext cx="1535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250" b="1" spc="149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INSIGHTS</a:t>
            </a:r>
            <a:endParaRPr sz="1250">
              <a:solidFill>
                <a:srgbClr val="734F96"/>
              </a:solidFill>
            </a:endParaRPr>
          </a:p>
        </p:txBody>
      </p:sp>
      <p:sp>
        <p:nvSpPr>
          <p:cNvPr id="348428188" name="Text 21"/>
          <p:cNvSpPr/>
          <p:nvPr/>
        </p:nvSpPr>
        <p:spPr bwMode="auto">
          <a:xfrm flipH="0" flipV="0">
            <a:off x="6439686" y="4163563"/>
            <a:ext cx="25143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5764" indent="-195764">
              <a:spcAft>
                <a:spcPts val="249"/>
              </a:spcAft>
              <a:buFont typeface="Arial"/>
              <a:buChar char="•"/>
              <a:defRPr/>
            </a:pPr>
            <a:r>
              <a:rPr lang="en-US" sz="95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A higher nominal GDP does not automatically correlate to a higher GDP per capita</a:t>
            </a:r>
            <a:endParaRPr sz="950" b="0" i="0" u="none" strike="noStrike" cap="none" spc="0">
              <a:solidFill>
                <a:srgbClr val="1B2A4A"/>
              </a:solidFill>
              <a:latin typeface="Calibri"/>
              <a:ea typeface="Calibri"/>
              <a:cs typeface="Calibri"/>
            </a:endParaRPr>
          </a:p>
          <a:p>
            <a:pPr marL="195764" indent="-195764">
              <a:spcAft>
                <a:spcPts val="249"/>
              </a:spcAft>
              <a:buFont typeface="Arial"/>
              <a:buChar char="•"/>
              <a:defRPr/>
            </a:pPr>
            <a:r>
              <a:rPr lang="en-US" sz="95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Asia </a:t>
            </a:r>
            <a:r>
              <a:rPr lang="en-US" sz="950" b="0" i="0" u="none" strike="noStrike" cap="none" spc="0">
                <a:solidFill>
                  <a:srgbClr val="1B2A4A"/>
                </a:solidFill>
                <a:latin typeface="Calibri"/>
                <a:ea typeface="Calibri"/>
                <a:cs typeface="Calibri"/>
              </a:rPr>
              <a:t>gaining economic weight from 2007 onwards</a:t>
            </a:r>
            <a:endParaRPr lang="en-US" sz="1000" b="0" i="0" u="none" strike="noStrike" cap="none" spc="0">
              <a:solidFill>
                <a:srgbClr val="1B2A4A"/>
              </a:solidFill>
              <a:latin typeface="Calibri"/>
              <a:ea typeface="Calibri"/>
              <a:cs typeface="Calibri"/>
            </a:endParaRPr>
          </a:p>
          <a:p>
            <a:pPr marL="342900" indent="-342900">
              <a:spcAft>
                <a:spcPts val="249"/>
              </a:spcAft>
              <a:buSzPct val="100000"/>
              <a:buChar char="•"/>
              <a:defRPr/>
            </a:pPr>
            <a:endParaRPr lang="en-US" sz="1000"/>
          </a:p>
        </p:txBody>
      </p:sp>
      <p:sp>
        <p:nvSpPr>
          <p:cNvPr id="887850403" name="Text 17"/>
          <p:cNvSpPr/>
          <p:nvPr/>
        </p:nvSpPr>
        <p:spPr bwMode="auto">
          <a:xfrm flipH="0" flipV="0">
            <a:off x="9434106" y="6333951"/>
            <a:ext cx="24005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 u="sng" spc="149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CSC3107</a:t>
            </a:r>
            <a:endParaRPr sz="1250" b="1" u="sng" spc="149">
              <a:solidFill>
                <a:srgbClr val="734F96"/>
              </a:solidFill>
              <a:latin typeface="Cambria"/>
              <a:ea typeface="Cambria"/>
              <a:cs typeface="Cambria"/>
            </a:endParaRPr>
          </a:p>
          <a:p>
            <a:pPr marL="0" indent="0" algn="ctr">
              <a:buNone/>
              <a:defRPr/>
            </a:pPr>
            <a:r>
              <a:rPr lang="en-US" sz="1250" b="1" u="sng" spc="149">
                <a:solidFill>
                  <a:srgbClr val="734F96"/>
                </a:solidFill>
                <a:latin typeface="Cambria"/>
                <a:ea typeface="Cambria"/>
                <a:cs typeface="Cambria"/>
              </a:rPr>
              <a:t>Team Lavender</a:t>
            </a:r>
            <a:endParaRPr sz="1250" u="sng">
              <a:solidFill>
                <a:srgbClr val="734F96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$126T Global Economy — Redesigned</dc:title>
  <dc:subject>PptxGenJS Presentation</dc:subject>
  <dc:creator>CSC3107 Team</dc:creator>
  <cp:lastModifiedBy/>
  <cp:revision>5</cp:revision>
  <dcterms:created xsi:type="dcterms:W3CDTF">2026-06-24T12:51:48Z</dcterms:created>
  <dcterms:modified xsi:type="dcterms:W3CDTF">2026-07-22T11:26:24Z</dcterms:modified>
</cp:coreProperties>
</file>