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6888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768050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1233137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095851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5163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80773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674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3004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0972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mf.org/external/datamapper/NGDPD@WEO/OEMDC/ADVEC/WEOWORLD" TargetMode="External"/><Relationship Id="rId4" Type="http://schemas.openxmlformats.org/officeDocument/2006/relationships/hyperlink" Target="https://databank.worldbank.org/reports.aspx?source=2&amp;series=SP.POP.TOTL&amp;country=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www.visualcapitalist.com/the-126t-global-economy-in-one-cha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EFF3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798988" name="Shape 0"/>
          <p:cNvSpPr/>
          <p:nvPr/>
        </p:nvSpPr>
        <p:spPr bwMode="auto">
          <a:xfrm>
            <a:off x="320040" y="144433"/>
            <a:ext cx="11521440" cy="841248"/>
          </a:xfrm>
          <a:prstGeom prst="roundRect">
            <a:avLst>
              <a:gd name="adj" fmla="val 6522"/>
            </a:avLst>
          </a:prstGeom>
          <a:solidFill>
            <a:srgbClr val="1B2A4A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652645267" name="Text 1"/>
          <p:cNvSpPr/>
          <p:nvPr/>
        </p:nvSpPr>
        <p:spPr bwMode="auto">
          <a:xfrm>
            <a:off x="548640" y="199297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$126T Global Economy — Redesigned</a:t>
            </a:r>
            <a:endParaRPr lang="en-US" sz="2500"/>
          </a:p>
        </p:txBody>
      </p:sp>
      <p:sp>
        <p:nvSpPr>
          <p:cNvPr id="1014241973" name="Text 2"/>
          <p:cNvSpPr/>
          <p:nvPr/>
        </p:nvSpPr>
        <p:spPr bwMode="auto">
          <a:xfrm>
            <a:off x="566928" y="629065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From a Voronoi treemap to a task-driven, comparison-first redesign</a:t>
            </a:r>
            <a:endParaRPr lang="en-US" sz="1250"/>
          </a:p>
        </p:txBody>
      </p:sp>
      <p:sp>
        <p:nvSpPr>
          <p:cNvPr id="2109844008" name="Text 3"/>
          <p:cNvSpPr/>
          <p:nvPr/>
        </p:nvSpPr>
        <p:spPr bwMode="auto">
          <a:xfrm>
            <a:off x="8503920" y="199297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CSC3107 · Information Visualization</a:t>
            </a:r>
            <a:endParaRPr lang="en-US" sz="1250"/>
          </a:p>
          <a:p>
            <a:pPr marL="0" indent="0" algn="r">
              <a:buNone/>
              <a:defRPr/>
            </a:pPr>
            <a:r>
              <a:rPr lang="en-US" sz="1100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Team </a:t>
            </a:r>
            <a:r>
              <a:rPr lang="en-US" sz="1100" b="0" i="0" u="none" strike="noStrike" cap="none" spc="0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Lavender</a:t>
            </a:r>
            <a:r>
              <a:rPr lang="en-US" sz="1100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 · Poster Project</a:t>
            </a:r>
            <a:endParaRPr lang="en-US" sz="1250"/>
          </a:p>
        </p:txBody>
      </p:sp>
      <p:sp>
        <p:nvSpPr>
          <p:cNvPr id="1852113362" name="Shape 4"/>
          <p:cNvSpPr/>
          <p:nvPr/>
        </p:nvSpPr>
        <p:spPr bwMode="auto">
          <a:xfrm flipH="0" flipV="0">
            <a:off x="329183" y="1125266"/>
            <a:ext cx="3246120" cy="3252527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992004260" name="Text 5"/>
          <p:cNvSpPr/>
          <p:nvPr/>
        </p:nvSpPr>
        <p:spPr bwMode="auto">
          <a:xfrm>
            <a:off x="484632" y="123499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50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THE ORIGINAL</a:t>
            </a:r>
            <a:endParaRPr lang="en-US" sz="1250"/>
          </a:p>
        </p:txBody>
      </p:sp>
      <p:sp>
        <p:nvSpPr>
          <p:cNvPr id="984502747" name="Text 6"/>
          <p:cNvSpPr/>
          <p:nvPr/>
        </p:nvSpPr>
        <p:spPr bwMode="auto">
          <a:xfrm>
            <a:off x="484632" y="152760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Visual Capitalist encodes each country's GDP as the area of a Voronoi-treemap cell, coloured by region.</a:t>
            </a:r>
            <a:endParaRPr lang="en-US" sz="1000"/>
          </a:p>
        </p:txBody>
      </p:sp>
      <p:sp>
        <p:nvSpPr>
          <p:cNvPr id="2103510975" name="Shape 10"/>
          <p:cNvSpPr/>
          <p:nvPr/>
        </p:nvSpPr>
        <p:spPr bwMode="auto">
          <a:xfrm>
            <a:off x="320040" y="4034374"/>
            <a:ext cx="3246120" cy="2679192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1367505680" name="Text 12"/>
          <p:cNvSpPr/>
          <p:nvPr/>
        </p:nvSpPr>
        <p:spPr bwMode="auto">
          <a:xfrm>
            <a:off x="484632" y="4808081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Strengths</a:t>
            </a:r>
            <a:endParaRPr lang="en-US" sz="1000"/>
          </a:p>
        </p:txBody>
      </p:sp>
      <p:sp>
        <p:nvSpPr>
          <p:cNvPr id="981345515" name="Text 13"/>
          <p:cNvSpPr/>
          <p:nvPr/>
        </p:nvSpPr>
        <p:spPr bwMode="auto">
          <a:xfrm>
            <a:off x="502920" y="4888506"/>
            <a:ext cx="2898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High visual salience, draws readers in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Region colour shows macro clusters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Sortable companion table for exact figures.</a:t>
            </a:r>
            <a:endParaRPr lang="en-US" sz="950"/>
          </a:p>
        </p:txBody>
      </p:sp>
      <p:sp>
        <p:nvSpPr>
          <p:cNvPr id="2033804880" name="Text 14"/>
          <p:cNvSpPr/>
          <p:nvPr/>
        </p:nvSpPr>
        <p:spPr bwMode="auto">
          <a:xfrm>
            <a:off x="484632" y="5576731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Weakness</a:t>
            </a:r>
            <a:endParaRPr lang="en-US" sz="1000"/>
          </a:p>
        </p:txBody>
      </p:sp>
      <p:sp>
        <p:nvSpPr>
          <p:cNvPr id="1064971789" name="Text 15"/>
          <p:cNvSpPr/>
          <p:nvPr/>
        </p:nvSpPr>
        <p:spPr bwMode="auto">
          <a:xfrm>
            <a:off x="502920" y="5613861"/>
            <a:ext cx="2898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Area is hard to compare precisely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Region colours repeat / look alike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No ranking, per-capita, or trend</a:t>
            </a:r>
            <a:endParaRPr lang="en-US" sz="95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950" b="0" i="0" u="none" strike="noStrike" cap="none" spc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One year's data cannot prove Asia's shifting economic weight</a:t>
            </a:r>
            <a:endParaRPr lang="en-US" sz="950"/>
          </a:p>
        </p:txBody>
      </p:sp>
      <p:sp>
        <p:nvSpPr>
          <p:cNvPr id="1776864968" name="Shape 16"/>
          <p:cNvSpPr/>
          <p:nvPr/>
        </p:nvSpPr>
        <p:spPr bwMode="auto">
          <a:xfrm flipH="0" flipV="0">
            <a:off x="3698470" y="1125266"/>
            <a:ext cx="5152006" cy="558830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585718508" name="Text 17"/>
          <p:cNvSpPr/>
          <p:nvPr/>
        </p:nvSpPr>
        <p:spPr bwMode="auto">
          <a:xfrm>
            <a:off x="3886200" y="123499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50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OUR REDESIGN</a:t>
            </a:r>
            <a:endParaRPr lang="en-US" sz="1250"/>
          </a:p>
        </p:txBody>
      </p:sp>
      <p:sp>
        <p:nvSpPr>
          <p:cNvPr id="1231436206" name="Text 20"/>
          <p:cNvSpPr/>
          <p:nvPr/>
        </p:nvSpPr>
        <p:spPr bwMode="auto">
          <a:xfrm flipH="0" flipV="0">
            <a:off x="3842903" y="4682423"/>
            <a:ext cx="15352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50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WHAT CHANGED</a:t>
            </a:r>
            <a:endParaRPr lang="en-US" sz="1250"/>
          </a:p>
        </p:txBody>
      </p:sp>
      <p:sp>
        <p:nvSpPr>
          <p:cNvPr id="945083772" name="Text 21"/>
          <p:cNvSpPr/>
          <p:nvPr/>
        </p:nvSpPr>
        <p:spPr bwMode="auto">
          <a:xfrm flipH="0" flipV="0">
            <a:off x="3861191" y="5173220"/>
            <a:ext cx="23545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5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Ranked bars replace areas</a:t>
            </a:r>
            <a:endParaRPr sz="950"/>
          </a:p>
          <a:p>
            <a:pPr marL="342900" indent="-342900">
              <a:spcAft>
                <a:spcPts val="25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One consistent unit (USD trillions) across the whole chart</a:t>
            </a:r>
            <a:endParaRPr sz="950"/>
          </a:p>
          <a:p>
            <a:pPr marL="342900" indent="-342900">
              <a:spcAft>
                <a:spcPts val="25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Colour-blind-safe palette: one distinct hue per region</a:t>
            </a:r>
            <a:endParaRPr sz="950"/>
          </a:p>
          <a:p>
            <a:pPr marL="342900" indent="-342900">
              <a:spcAft>
                <a:spcPts val="25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GDP per capita separates market size from prosperity</a:t>
            </a:r>
            <a:endParaRPr sz="950"/>
          </a:p>
          <a:p>
            <a:pPr marL="342900" indent="-342900">
              <a:spcAft>
                <a:spcPts val="25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Showing of “Asia shift”story by adding GDP Share by Region panel</a:t>
            </a:r>
            <a:endParaRPr lang="en-US" sz="1000"/>
          </a:p>
        </p:txBody>
      </p:sp>
      <p:sp>
        <p:nvSpPr>
          <p:cNvPr id="762979647" name="Shape 22"/>
          <p:cNvSpPr/>
          <p:nvPr/>
        </p:nvSpPr>
        <p:spPr bwMode="auto">
          <a:xfrm flipH="0" flipV="0">
            <a:off x="8942831" y="1125266"/>
            <a:ext cx="2898648" cy="3382867"/>
          </a:xfrm>
          <a:prstGeom prst="roundRect">
            <a:avLst>
              <a:gd name="adj" fmla="val 2034"/>
            </a:avLst>
          </a:prstGeom>
          <a:solidFill>
            <a:srgbClr val="1B2A4A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143457906" name="Text 23"/>
          <p:cNvSpPr/>
          <p:nvPr/>
        </p:nvSpPr>
        <p:spPr bwMode="auto">
          <a:xfrm>
            <a:off x="9107424" y="123499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 spc="1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DESIGN BRIEF</a:t>
            </a:r>
            <a:endParaRPr lang="en-US" sz="1250"/>
          </a:p>
        </p:txBody>
      </p:sp>
      <p:sp>
        <p:nvSpPr>
          <p:cNvPr id="1453534900" name="Text 24"/>
          <p:cNvSpPr/>
          <p:nvPr/>
        </p:nvSpPr>
        <p:spPr bwMode="auto">
          <a:xfrm>
            <a:off x="9107424" y="1527602"/>
            <a:ext cx="2569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950" b="0" i="0" u="none" strike="noStrike" cap="none" spc="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This redesign is intended for economic and trade-policy analysts prioritizing global markets</a:t>
            </a:r>
            <a:endParaRPr lang="en-US" sz="950" b="0" i="0" u="none" strike="noStrike" cap="none" spc="0">
              <a:solidFill>
                <a:srgbClr val="EAF1FB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950" b="0" i="0" u="none" strike="noStrike" cap="none" spc="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and trade partnerships.</a:t>
            </a:r>
            <a:endParaRPr lang="en-US" sz="950" b="0" i="0" u="none" strike="noStrike" cap="none" spc="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950" b="0" i="0" u="none" strike="noStrike" cap="none" spc="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950" b="0" i="0" u="none" strike="noStrike" cap="none" spc="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The goal is to clearly rank and compare the total absolute market </a:t>
            </a:r>
            <a:r>
              <a:rPr lang="en-US" sz="950" b="0" i="0" u="none" strike="noStrike" cap="none" spc="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size of individual economies for the year 2026.</a:t>
            </a: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In addition, it also aims to show that the economic weight is shifting towards Asia since 2000.</a:t>
            </a:r>
            <a:endParaRPr lang="en-US" sz="950" b="0" i="0" u="none" strike="noStrike" cap="none" spc="0">
              <a:solidFill>
                <a:srgbClr val="EAF1FB"/>
              </a:solidFill>
              <a:latin typeface="Calibri"/>
              <a:cs typeface="Calibri"/>
            </a:endParaRPr>
          </a:p>
          <a:p>
            <a:pPr marL="0" indent="0">
              <a:lnSpc>
                <a:spcPct val="102000"/>
              </a:lnSpc>
              <a:buNone/>
              <a:defRPr/>
            </a:pP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2000"/>
              </a:lnSpc>
              <a:buNone/>
              <a:defRPr/>
            </a:pPr>
            <a:r>
              <a:rPr lang="en-US" sz="950" b="1">
                <a:solidFill>
                  <a:srgbClr val="8FD4DC"/>
                </a:solidFill>
                <a:latin typeface="Calibri"/>
                <a:ea typeface="Calibri"/>
                <a:cs typeface="Calibri"/>
              </a:rPr>
              <a:t>Revisions: 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 marL="190257" indent="-190257">
              <a:lnSpc>
                <a:spcPct val="102000"/>
              </a:lnSpc>
              <a:buFont typeface="Arial"/>
              <a:buChar char="•"/>
              <a:defRPr/>
            </a:pP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Side by side horizontal bar chart comparison for nominal GDP and individual affluence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 marL="190257" indent="-190257">
              <a:lnSpc>
                <a:spcPct val="102000"/>
              </a:lnSpc>
              <a:buFont typeface="Arial"/>
              <a:buChar char="•"/>
              <a:defRPr/>
            </a:pP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Line chart to show the GDP share by region trend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 marL="190257" indent="-190257">
              <a:lnSpc>
                <a:spcPct val="102000"/>
              </a:lnSpc>
              <a:buFont typeface="Arial"/>
              <a:buChar char="•"/>
              <a:defRPr/>
            </a:pP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Distinct colour palette for each region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  <a:p>
            <a:pPr marL="190257" indent="-190257">
              <a:lnSpc>
                <a:spcPct val="102000"/>
              </a:lnSpc>
              <a:buFont typeface="Arial"/>
              <a:buChar char="•"/>
              <a:defRPr/>
            </a:pPr>
            <a:r>
              <a:rPr lang="en-US" sz="950">
                <a:solidFill>
                  <a:srgbClr val="EAF1FB"/>
                </a:solidFill>
                <a:latin typeface="Calibri"/>
                <a:ea typeface="Calibri"/>
                <a:cs typeface="Calibri"/>
              </a:rPr>
              <a:t>Standardized units in USD trillions</a:t>
            </a:r>
            <a:endParaRPr lang="en-US" sz="950">
              <a:solidFill>
                <a:srgbClr val="EAF1F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2620845" name="Shape 25"/>
          <p:cNvSpPr/>
          <p:nvPr/>
        </p:nvSpPr>
        <p:spPr bwMode="auto">
          <a:xfrm flipH="0" flipV="0">
            <a:off x="8942830" y="4668496"/>
            <a:ext cx="2898648" cy="812707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1240629182" name="Text 26"/>
          <p:cNvSpPr/>
          <p:nvPr/>
        </p:nvSpPr>
        <p:spPr bwMode="auto">
          <a:xfrm>
            <a:off x="9107424" y="475993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50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DATA</a:t>
            </a:r>
            <a:endParaRPr lang="en-US" sz="1250"/>
          </a:p>
        </p:txBody>
      </p:sp>
      <p:sp>
        <p:nvSpPr>
          <p:cNvPr id="1431158546" name="Text 27"/>
          <p:cNvSpPr/>
          <p:nvPr/>
        </p:nvSpPr>
        <p:spPr bwMode="auto">
          <a:xfrm flipH="0" flipV="0">
            <a:off x="9107422" y="5069929"/>
            <a:ext cx="2569463" cy="38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900" b="1" u="sng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 tooltip=""/>
              </a:rPr>
              <a:t>IMF WEO Apr 2026</a:t>
            </a:r>
            <a:r>
              <a:rPr lang="en-US" sz="9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(NGDPD): Nominal GDP</a:t>
            </a:r>
            <a:endParaRPr sz="90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3000"/>
              </a:lnSpc>
              <a:buNone/>
              <a:defRPr/>
            </a:pPr>
            <a:r>
              <a:rPr lang="en-US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4" tooltip=""/>
              </a:rPr>
              <a:t>World Bank WDI</a:t>
            </a:r>
            <a:r>
              <a:rPr lang="en-US" sz="900"/>
              <a:t> (</a:t>
            </a:r>
            <a:r>
              <a:rPr lang="en-US" sz="9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SP.POP.TOTL</a:t>
            </a:r>
            <a:r>
              <a:rPr lang="en-US" sz="900"/>
              <a:t>): Population</a:t>
            </a:r>
            <a:endParaRPr lang="en-US" sz="900"/>
          </a:p>
        </p:txBody>
      </p:sp>
      <p:sp>
        <p:nvSpPr>
          <p:cNvPr id="557561572" name="Shape 28"/>
          <p:cNvSpPr/>
          <p:nvPr/>
        </p:nvSpPr>
        <p:spPr bwMode="auto">
          <a:xfrm flipH="0" flipV="0">
            <a:off x="8942831" y="5675999"/>
            <a:ext cx="2898648" cy="1035141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blurRad="88900" dist="38100" dir="5400000" sx="100000" sy="100000" kx="0" ky="0" algn="bl" rotWithShape="0">
              <a:srgbClr val="8AA0BE">
                <a:alpha val="22000"/>
              </a:srgbClr>
            </a:outerShdw>
          </a:effectLst>
        </p:spPr>
      </p:sp>
      <p:sp>
        <p:nvSpPr>
          <p:cNvPr id="533903756" name="Text 30"/>
          <p:cNvSpPr/>
          <p:nvPr/>
        </p:nvSpPr>
        <p:spPr bwMode="auto">
          <a:xfrm>
            <a:off x="11016095" y="582902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100"/>
          </a:p>
        </p:txBody>
      </p:sp>
      <p:sp>
        <p:nvSpPr>
          <p:cNvPr id="1661189671" name="Text 31"/>
          <p:cNvSpPr/>
          <p:nvPr/>
        </p:nvSpPr>
        <p:spPr bwMode="auto">
          <a:xfrm>
            <a:off x="9107424" y="5749151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50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REFERENCES</a:t>
            </a:r>
            <a:endParaRPr lang="en-US" sz="1250"/>
          </a:p>
        </p:txBody>
      </p:sp>
      <p:pic>
        <p:nvPicPr>
          <p:cNvPr id="41353296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89910" y="1622272"/>
            <a:ext cx="4983479" cy="2760204"/>
          </a:xfrm>
          <a:prstGeom prst="rect">
            <a:avLst/>
          </a:prstGeom>
        </p:spPr>
      </p:pic>
      <p:pic>
        <p:nvPicPr>
          <p:cNvPr id="194931325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72974" y="1896510"/>
            <a:ext cx="2149934" cy="2803309"/>
          </a:xfrm>
          <a:prstGeom prst="rect">
            <a:avLst/>
          </a:prstGeom>
        </p:spPr>
      </p:pic>
      <p:sp>
        <p:nvSpPr>
          <p:cNvPr id="1400488496" name="Text 32"/>
          <p:cNvSpPr/>
          <p:nvPr/>
        </p:nvSpPr>
        <p:spPr bwMode="auto">
          <a:xfrm>
            <a:off x="9107424" y="6063302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3735" indent="-173735">
              <a:lnSpc>
                <a:spcPct val="102000"/>
              </a:lnSpc>
              <a:buFont typeface="Arial"/>
              <a:buChar char="•"/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Visual Capitalist (2026). The $126T Global Economy in One Chart. Available at: </a:t>
            </a:r>
            <a:r>
              <a:rPr lang="en-US" sz="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7" tooltip=""/>
              </a:rPr>
              <a:t>https://www.visualcapitalist.com/the-126t-global-economy-in-one-chart/</a:t>
            </a:r>
            <a:endParaRPr lang="en-US" sz="800"/>
          </a:p>
        </p:txBody>
      </p:sp>
      <p:sp>
        <p:nvSpPr>
          <p:cNvPr id="960942459" name="Text 9"/>
          <p:cNvSpPr/>
          <p:nvPr/>
        </p:nvSpPr>
        <p:spPr bwMode="auto">
          <a:xfrm>
            <a:off x="548639" y="4633791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Source: Visual Capitalist (2026),</a:t>
            </a:r>
            <a:endParaRPr lang="en-US" sz="750"/>
          </a:p>
        </p:txBody>
      </p:sp>
      <p:sp>
        <p:nvSpPr>
          <p:cNvPr id="563618448" name="Text 20"/>
          <p:cNvSpPr/>
          <p:nvPr/>
        </p:nvSpPr>
        <p:spPr bwMode="auto">
          <a:xfrm flipH="0" flipV="0">
            <a:off x="6317768" y="4682423"/>
            <a:ext cx="15352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50" b="1" spc="149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INSIGHTS</a:t>
            </a:r>
            <a:endParaRPr lang="en-US" sz="1250"/>
          </a:p>
        </p:txBody>
      </p:sp>
      <p:sp>
        <p:nvSpPr>
          <p:cNvPr id="1023810051" name="Text 21"/>
          <p:cNvSpPr/>
          <p:nvPr/>
        </p:nvSpPr>
        <p:spPr bwMode="auto">
          <a:xfrm flipH="0" flipV="0">
            <a:off x="6284074" y="4855462"/>
            <a:ext cx="25143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5764" indent="-195764">
              <a:spcAft>
                <a:spcPts val="249"/>
              </a:spcAft>
              <a:buFont typeface="Arial"/>
              <a:buChar char="•"/>
              <a:defRPr/>
            </a:pPr>
            <a:r>
              <a:rPr lang="en-US" sz="950" b="0" i="0" u="none" strike="noStrike" cap="none" spc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 higher nominal GDP does not automatically correlate to a higher GDP per capita</a:t>
            </a:r>
            <a:endParaRPr sz="950" b="0" i="0" u="none" strike="noStrike" cap="none" spc="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195764" indent="-195764">
              <a:spcAft>
                <a:spcPts val="249"/>
              </a:spcAft>
              <a:buFont typeface="Arial"/>
              <a:buChar char="•"/>
              <a:defRPr/>
            </a:pPr>
            <a:r>
              <a:rPr lang="en-US" sz="950" b="0" i="0" u="none" strike="noStrike" cap="none" spc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Asia </a:t>
            </a:r>
            <a:r>
              <a:rPr lang="en-US" sz="950" b="0" i="0" u="none" strike="noStrike" cap="none" spc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gaining economic weight from 2007 onwards</a:t>
            </a:r>
            <a:endParaRPr lang="en-US" sz="1000" b="0" i="0" u="none" strike="noStrike" cap="none" spc="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249"/>
              </a:spcAft>
              <a:buSzPct val="100000"/>
              <a:buChar char="•"/>
              <a:defRPr/>
            </a:pP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$126T Global Economy — Redesigned</dc:title>
  <dc:subject>PptxGenJS Presentation</dc:subject>
  <dc:creator>CSC3107 Team</dc:creator>
  <cp:lastModifiedBy/>
  <cp:revision>4</cp:revision>
  <dcterms:created xsi:type="dcterms:W3CDTF">2026-06-24T12:51:48Z</dcterms:created>
  <dcterms:modified xsi:type="dcterms:W3CDTF">2026-07-19T10:44:17Z</dcterms:modified>
</cp:coreProperties>
</file>